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fbff623-41b4-d7ca-f13d-d26f71329bfb}">
          <p14:sldIdLst>
            <p14:sldId id="256"/>
            <p14:sldId id="257"/>
          </p14:sldIdLst>
        </p14:section>
        <p14:section name="Design" id="{5fc2f028-3969-186c-641c-b84c450bf287}">
          <p14:sldIdLst>
            <p14:sldId id="258"/>
            <p14:sldId id="259"/>
            <p14:sldId id="260"/>
            <p14:sldId id="261"/>
          </p14:sldIdLst>
        </p14:section>
        <p14:section name="Delivery" id="{e764903f-e641-cd69-e29e-a582c4961734}">
          <p14:sldIdLst>
            <p14:sldId id="262"/>
            <p14:sldId id="263"/>
            <p14:sldId id="264"/>
          </p14:sldIdLst>
        </p14:section>
        <p14:section name="Close" id="{ba5d2718-8761-172b-34e8-f94a12c8fad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" y="77724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3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12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bg1"/>
                </a:solidFill>
              </a:rPr>
              <a:t>CLOUD COMPUTING MINI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ShopScale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4688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under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cloud workloads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Build an online store, simulate traffic bursts, then measure AWS scaling, SLA, recovery and bot detection.</a:t>
            </a:r>
            <a:endParaRPr lang="en-US" sz="1800" dirty="0"/>
          </a:p>
        </p:txBody>
      </p:sp>
      <p:pic>
        <p:nvPicPr>
          <p:cNvPr id="6" name="Image 0" descr="Online stor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846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Online store</a:t>
            </a:r>
            <a:endParaRPr lang="en-US" sz="1800" dirty="0"/>
          </a:p>
        </p:txBody>
      </p:sp>
      <p:pic>
        <p:nvPicPr>
          <p:cNvPr id="8" name="Image 1" descr="AWS scal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48463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43984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AWS scaling</a:t>
            </a:r>
            <a:endParaRPr lang="en-US" sz="1800" dirty="0"/>
          </a:p>
        </p:txBody>
      </p:sp>
      <p:pic>
        <p:nvPicPr>
          <p:cNvPr id="10" name="Image 2" descr="Repeatable evidenc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484632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211312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Repeatable evidence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[Names] ·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PROBLEM AND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57784" y="777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Success means a working store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plus repeatable evidence</a:t>
            </a:r>
            <a:endParaRPr lang="en-US" sz="3400" dirty="0"/>
          </a:p>
        </p:txBody>
      </p:sp>
      <p:sp>
        <p:nvSpPr>
          <p:cNvPr id="4" name="Problem card"/>
          <p:cNvSpPr/>
          <p:nvPr/>
        </p:nvSpPr>
        <p:spPr>
          <a:xfrm>
            <a:off x="557784" y="2011680"/>
            <a:ext cx="5303520" cy="420624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 w="9525">
            <a:solidFill>
              <a:srgbClr val="D3D8C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The problem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6294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Our solution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358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89888" y="2926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Traffic spikes during promotions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130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89888" y="3703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Slow APIs hurt trust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9028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89888" y="4480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Uncontrolled automation distorts metrics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67528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89888" y="5257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Teams need proof that scaling and recovery work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035808"/>
            <a:ext cx="329184" cy="32918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150608" y="2926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Working store: catalog, cart, inventory, simulated checkout</a:t>
            </a:r>
            <a:endParaRPr lang="en-US" sz="17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813048"/>
            <a:ext cx="329184" cy="32918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150608" y="3703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Labelled test traffic</a:t>
            </a:r>
            <a:endParaRPr lang="en-US" sz="17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590288"/>
            <a:ext cx="329184" cy="32918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150608" y="4480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AWS monitoring, balancing and scaling</a:t>
            </a:r>
            <a:endParaRPr lang="en-US" sz="17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5367528"/>
            <a:ext cx="329184" cy="32918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150608" y="5257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Evaluation of SLA, TTR and detection quality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57784" y="777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Three design decisions keep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store correct under load</a:t>
            </a:r>
            <a:endParaRPr lang="en-US" sz="3400" dirty="0"/>
          </a:p>
        </p:txBody>
      </p:sp>
      <p:sp>
        <p:nvSpPr>
          <p:cNvPr id="4" name="Panel 1"/>
          <p:cNvSpPr/>
          <p:nvPr/>
        </p:nvSpPr>
        <p:spPr>
          <a:xfrm>
            <a:off x="557784" y="2103120"/>
            <a:ext cx="2212848" cy="21031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Panel 2"/>
          <p:cNvSpPr/>
          <p:nvPr/>
        </p:nvSpPr>
        <p:spPr>
          <a:xfrm>
            <a:off x="2779776" y="2103120"/>
            <a:ext cx="2944368" cy="2103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Panel 3"/>
          <p:cNvSpPr/>
          <p:nvPr/>
        </p:nvSpPr>
        <p:spPr>
          <a:xfrm>
            <a:off x="5724144" y="2103120"/>
            <a:ext cx="2953512" cy="21031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Panel 4"/>
          <p:cNvSpPr/>
          <p:nvPr/>
        </p:nvSpPr>
        <p:spPr>
          <a:xfrm>
            <a:off x="8677656" y="2103120"/>
            <a:ext cx="2953512" cy="21031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Browser chevron"/>
          <p:cNvSpPr/>
          <p:nvPr/>
        </p:nvSpPr>
        <p:spPr>
          <a:xfrm>
            <a:off x="722376" y="2286000"/>
            <a:ext cx="1892808" cy="868680"/>
          </a:xfrm>
          <a:prstGeom prst="chevron">
            <a:avLst/>
          </a:prstGeom>
          <a:solidFill>
            <a:srgbClr val="E4E8D8"/>
          </a:solidFill>
          <a:ln w="9525">
            <a:solidFill>
              <a:srgbClr val="CFD3C0"/>
            </a:solidFill>
            <a:prstDash val="solid"/>
          </a:ln>
        </p:spPr>
      </p:sp>
      <p:sp>
        <p:nvSpPr>
          <p:cNvPr id="9" name="Express.js chevron"/>
          <p:cNvSpPr/>
          <p:nvPr/>
        </p:nvSpPr>
        <p:spPr>
          <a:xfrm>
            <a:off x="2926080" y="2286000"/>
            <a:ext cx="2651760" cy="868680"/>
          </a:xfrm>
          <a:prstGeom prst="chevron">
            <a:avLst/>
          </a:prstGeom>
          <a:solidFill>
            <a:srgbClr val="E4E8D8"/>
          </a:solidFill>
          <a:ln w="9525">
            <a:solidFill>
              <a:srgbClr val="CFD3C0"/>
            </a:solidFill>
            <a:prstDash val="solid"/>
          </a:ln>
        </p:spPr>
      </p:sp>
      <p:sp>
        <p:nvSpPr>
          <p:cNvPr id="10" name="FastAPI chevron"/>
          <p:cNvSpPr/>
          <p:nvPr/>
        </p:nvSpPr>
        <p:spPr>
          <a:xfrm>
            <a:off x="5879592" y="2286000"/>
            <a:ext cx="2651760" cy="868680"/>
          </a:xfrm>
          <a:prstGeom prst="chevron">
            <a:avLst/>
          </a:prstGeom>
          <a:solidFill>
            <a:srgbClr val="E4E8D8"/>
          </a:solidFill>
          <a:ln w="9525">
            <a:solidFill>
              <a:srgbClr val="CFD3C0"/>
            </a:solidFill>
            <a:prstDash val="solid"/>
          </a:ln>
        </p:spPr>
      </p:sp>
      <p:sp>
        <p:nvSpPr>
          <p:cNvPr id="11" name="MySQL 8.0 chevron"/>
          <p:cNvSpPr/>
          <p:nvPr/>
        </p:nvSpPr>
        <p:spPr>
          <a:xfrm>
            <a:off x="8833104" y="2286000"/>
            <a:ext cx="2651760" cy="868680"/>
          </a:xfrm>
          <a:prstGeom prst="chevron">
            <a:avLst/>
          </a:prstGeom>
          <a:solidFill>
            <a:srgbClr val="E4E8D8"/>
          </a:solidFill>
          <a:ln w="9525">
            <a:solidFill>
              <a:srgbClr val="CFD3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" y="2286000"/>
            <a:ext cx="189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Browser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2860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Express.js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22860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FastAPI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833104" y="22860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MySQL 8.0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HTML / JS / CSS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33101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Frontend server · 3000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Serves HTML/JS/CSS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Proxies /api/*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879592" y="33101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Backend · 8000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REST API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JWT auth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833104" y="33101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InnoDB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ACID transactions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01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57784" y="4937760"/>
            <a:ext cx="33832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784" y="5074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Async MySQL driver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" y="5577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API never blocks under load.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02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407408" y="4937760"/>
            <a:ext cx="33832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07408" y="5074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Express proxy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407408" y="5577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origin, no CORS complexity.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03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247888" y="4937760"/>
            <a:ext cx="33832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47888" y="5074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Checkout row locks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247888" y="5577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SELECT … FOR UPDATE prevents overselling.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SCOPE AND STACK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57784" y="777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focused stack delivers the MVP;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stretch goals stay optional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" y="1965960"/>
          <a:ext cx="636422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901184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231F"/>
                          </a:solidFill>
                        </a:rPr>
                        <a:t>Layer</a:t>
                      </a:r>
                      <a:endParaRPr lang="en-US" sz="18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2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231F"/>
                          </a:solidFill>
                        </a:rPr>
                        <a:t>Technology</a:t>
                      </a:r>
                      <a:endParaRPr lang="en-US" sz="18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2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Frontend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HTML5, vanilla JavaScript, Tailwind CSS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Server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Node.js, Express.js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Backend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Python, FastAPI, Pydantic v2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Database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MySQL 8.0, SQLAlchemy async, Alembic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Testing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pytest, Playwright, Locust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Packaging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Docker Compose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Cloud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AWS: EC2, ALB, Auto Scaling, RDS, ECR, CloudWatch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</a:tbl>
          </a:graphicData>
        </a:graphic>
      </p:graphicFrame>
      <p:sp>
        <p:nvSpPr>
          <p:cNvPr id="5" name="MVP box"/>
          <p:cNvSpPr/>
          <p:nvPr/>
        </p:nvSpPr>
        <p:spPr>
          <a:xfrm>
            <a:off x="7379208" y="1965960"/>
            <a:ext cx="4251960" cy="2194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8096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Must-have MVP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7432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Catalog and search, login, cart, inventory, orders, order history, admin controls.</a:t>
            </a:r>
            <a:endParaRPr lang="en-US" sz="2000" dirty="0"/>
          </a:p>
        </p:txBody>
      </p:sp>
      <p:sp>
        <p:nvSpPr>
          <p:cNvPr id="8" name="Stretch card"/>
          <p:cNvSpPr/>
          <p:nvPr/>
        </p:nvSpPr>
        <p:spPr>
          <a:xfrm>
            <a:off x="7379208" y="4389120"/>
            <a:ext cx="4251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3D8C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8096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Stretch goals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50292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WAF, Prometheus and Grafana, automated recovery, Terraform, Jenkins.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anomaly detection as future work.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EVALUATION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57784" y="777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Six controlled experiments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will produce the evidence</a:t>
            </a:r>
            <a:endParaRPr lang="en-US" sz="3400" dirty="0"/>
          </a:p>
        </p:txBody>
      </p:sp>
      <p:sp>
        <p:nvSpPr>
          <p:cNvPr id="4" name="Playwright journeys card"/>
          <p:cNvSpPr/>
          <p:nvPr/>
        </p:nvSpPr>
        <p:spPr>
          <a:xfrm>
            <a:off x="502920" y="1920240"/>
            <a:ext cx="3520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84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Playwright journeys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Browse → synthetic-user login → cart → checkout → assert order</a:t>
            </a:r>
            <a:endParaRPr lang="en-US" sz="1400" dirty="0"/>
          </a:p>
        </p:txBody>
      </p:sp>
      <p:sp>
        <p:nvSpPr>
          <p:cNvPr id="7" name="Locust profiles card"/>
          <p:cNvSpPr/>
          <p:nvPr/>
        </p:nvSpPr>
        <p:spPr>
          <a:xfrm>
            <a:off x="4334256" y="1920240"/>
            <a:ext cx="3520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62856" y="2084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Locust profiles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Baseline, ramp, burst, soak</a:t>
            </a:r>
            <a:endParaRPr lang="en-US" sz="1400" dirty="0"/>
          </a:p>
        </p:txBody>
      </p:sp>
      <p:sp>
        <p:nvSpPr>
          <p:cNvPr id="10" name="Bot experiments card"/>
          <p:cNvSpPr/>
          <p:nvPr/>
        </p:nvSpPr>
        <p:spPr>
          <a:xfrm>
            <a:off x="8156448" y="1920240"/>
            <a:ext cx="3520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5048" y="2084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Bot experiments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85048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Labelled bots, rate rules, precision and recall, false positives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37560"/>
          <a:ext cx="1115568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8083296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231F"/>
                          </a:solidFill>
                        </a:rPr>
                        <a:t>Experiment</a:t>
                      </a:r>
                      <a:endParaRPr lang="en-US" sz="16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231F"/>
                          </a:solidFill>
                        </a:rPr>
                        <a:t>Evidence to record</a:t>
                      </a:r>
                      <a:endParaRPr lang="en-US" sz="16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Baseline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P50, P95, P99, RPS, error rate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Ramp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Saturation point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Burst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Scale delay, errors, recovery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Scale comparison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Latency, throughput, instances, cost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Bot controls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Precision, recall, false positives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Failure recovery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231F"/>
                          </a:solidFill>
                        </a:rPr>
                        <a:t>Detection to TTR</a:t>
                      </a:r>
                      <a:endParaRPr lang="en-US" sz="15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</a:tbl>
          </a:graphicData>
        </a:graphic>
      </p:graphicFrame>
      <p:sp>
        <p:nvSpPr>
          <p:cNvPr id="14" name="Guardrails banner"/>
          <p:cNvSpPr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6035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Guardrails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· Cap concurrency · Fixed duration · Synthetic accounts · No real payments · Test only our own systems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VALIDATION, NOT RESULTS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57784" y="777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Our SLA targets are hypotheses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until experiments validate them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659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PROPOSED TARGETS (NOT MEASURED RESULTS)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31720"/>
          <a:ext cx="69768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651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231F"/>
                          </a:solidFill>
                        </a:rPr>
                        <a:t>Measure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231F"/>
                          </a:solidFill>
                        </a:rPr>
                        <a:t>Hypothesis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231F"/>
                          </a:solidFill>
                        </a:rPr>
                        <a:t>Availability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 least 99.5% in the test window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Proposed target, to be validated by experiments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231F"/>
                          </a:solidFill>
                        </a:rPr>
                        <a:t>P95 API latency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Under 500 ms at baseline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Proposed target, to be validated by experiments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231F"/>
                          </a:solidFill>
                        </a:rPr>
                        <a:t>Error rate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Under 1% at normal load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Proposed target, to be validated by experiments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231F"/>
                          </a:solidFill>
                        </a:rPr>
                        <a:t>Scale-out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CPU above 70% for 3 minutes; initial hypothesis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Proposed target, to be validated by experiments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231F"/>
                          </a:solidFill>
                        </a:rPr>
                        <a:t>TTR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Under 2 minutes for the chosen failure scenario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Proposed target, to be validated by experiments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E"/>
                    </a:solidFill>
                  </a:tcPr>
                </a:tc>
              </a:tr>
            </a:tbl>
          </a:graphicData>
        </a:graphic>
      </p:graphicFrame>
      <p:sp>
        <p:nvSpPr>
          <p:cNvPr id="6" name="TTR card"/>
          <p:cNvSpPr/>
          <p:nvPr/>
        </p:nvSpPr>
        <p:spPr>
          <a:xfrm>
            <a:off x="7927848" y="1965960"/>
            <a:ext cx="3749040" cy="4526280"/>
          </a:xfrm>
          <a:prstGeom prst="roundRect">
            <a:avLst>
              <a:gd name="adj" fmla="val 3659"/>
            </a:avLst>
          </a:prstGeom>
          <a:solidFill>
            <a:schemeClr val="bg1"/>
          </a:solidFill>
          <a:ln w="9525">
            <a:solidFill>
              <a:srgbClr val="D3D8C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8388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TTR workflow</a:t>
            </a:r>
            <a:endParaRPr lang="en-US" sz="2200" dirty="0"/>
          </a:p>
        </p:txBody>
      </p:sp>
      <p:sp>
        <p:nvSpPr>
          <p:cNvPr id="8" name="Step 1"/>
          <p:cNvSpPr/>
          <p:nvPr/>
        </p:nvSpPr>
        <p:spPr>
          <a:xfrm>
            <a:off x="8183880" y="27432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838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743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Detect</a:t>
            </a:r>
            <a:endParaRPr lang="en-US" sz="1700" dirty="0"/>
          </a:p>
        </p:txBody>
      </p:sp>
      <p:sp>
        <p:nvSpPr>
          <p:cNvPr id="11" name="Step 2"/>
          <p:cNvSpPr/>
          <p:nvPr/>
        </p:nvSpPr>
        <p:spPr>
          <a:xfrm>
            <a:off x="8183880" y="327355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8388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2735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Diagnose</a:t>
            </a:r>
            <a:endParaRPr lang="en-US" sz="1700" dirty="0"/>
          </a:p>
        </p:txBody>
      </p:sp>
      <p:sp>
        <p:nvSpPr>
          <p:cNvPr id="14" name="Step 3"/>
          <p:cNvSpPr/>
          <p:nvPr/>
        </p:nvSpPr>
        <p:spPr>
          <a:xfrm>
            <a:off x="8183880" y="38039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8388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38039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Recover</a:t>
            </a:r>
            <a:endParaRPr lang="en-US" sz="1700" dirty="0"/>
          </a:p>
        </p:txBody>
      </p:sp>
      <p:sp>
        <p:nvSpPr>
          <p:cNvPr id="17" name="Step 4"/>
          <p:cNvSpPr/>
          <p:nvPr/>
        </p:nvSpPr>
        <p:spPr>
          <a:xfrm>
            <a:off x="8183880" y="43342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838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778240" y="43342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Verify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TTR = t</a:t>
            </a:r>
            <a:pPr algn="ctr"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restoration verified</a:t>
            </a:r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− t</a:t>
            </a:r>
            <a:pPr algn="ctr"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incident start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8183880" y="5669280"/>
            <a:ext cx="3246120" cy="0"/>
          </a:xfrm>
          <a:prstGeom prst="line">
            <a:avLst/>
          </a:prstGeom>
          <a:noFill/>
          <a:ln w="19050">
            <a:solidFill>
              <a:srgbClr val="CFD6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83880" y="5852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Results to be recorded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DELIVERY PLAN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57784" y="777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four-week plan with cost and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risk controls built in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Week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MVP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328416" y="2011680"/>
            <a:ext cx="0" cy="1097280"/>
          </a:xfrm>
          <a:prstGeom prst="line">
            <a:avLst/>
          </a:prstGeom>
          <a:noFill/>
          <a:ln w="12700">
            <a:solidFill>
              <a:srgbClr val="D3D8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11296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Week 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11296" y="2514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Containers and workload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44768" y="2011680"/>
            <a:ext cx="0" cy="1097280"/>
          </a:xfrm>
          <a:prstGeom prst="line">
            <a:avLst/>
          </a:prstGeom>
          <a:noFill/>
          <a:ln w="12700">
            <a:solidFill>
              <a:srgbClr val="D3D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7648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Week 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2514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AWS and observability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961120" y="2011680"/>
            <a:ext cx="0" cy="1097280"/>
          </a:xfrm>
          <a:prstGeom prst="line">
            <a:avLst/>
          </a:prstGeom>
          <a:noFill/>
          <a:ln w="12700">
            <a:solidFill>
              <a:srgbClr val="D3D8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Week 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514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Experiments and delivery</a:t>
            </a:r>
            <a:endParaRPr lang="en-US" sz="1900" dirty="0"/>
          </a:p>
        </p:txBody>
      </p:sp>
      <p:sp>
        <p:nvSpPr>
          <p:cNvPr id="15" name="Controls card"/>
          <p:cNvSpPr/>
          <p:nvPr/>
        </p:nvSpPr>
        <p:spPr>
          <a:xfrm>
            <a:off x="457200" y="3474720"/>
            <a:ext cx="5440680" cy="1737360"/>
          </a:xfrm>
          <a:prstGeom prst="rect">
            <a:avLst/>
          </a:prstGeom>
          <a:solidFill>
            <a:schemeClr val="bg1"/>
          </a:solidFill>
          <a:ln w="9525">
            <a:solidFill>
              <a:srgbClr val="D3D8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Cost and security controls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1148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AWS Budget alerts first, minimum capacity, tear down test resources, IAM least privilege, private database.</a:t>
            </a:r>
            <a:endParaRPr lang="en-US" sz="1600" dirty="0"/>
          </a:p>
        </p:txBody>
      </p:sp>
      <p:sp>
        <p:nvSpPr>
          <p:cNvPr id="18" name="Risks card"/>
          <p:cNvSpPr/>
          <p:nvPr/>
        </p:nvSpPr>
        <p:spPr>
          <a:xfrm>
            <a:off x="6263640" y="3474720"/>
            <a:ext cx="5440680" cy="1737360"/>
          </a:xfrm>
          <a:prstGeom prst="rect">
            <a:avLst/>
          </a:prstGeom>
          <a:solidFill>
            <a:schemeClr val="bg1"/>
          </a:solidFill>
          <a:ln w="9525">
            <a:solidFill>
              <a:srgbClr val="D3D8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Key risks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1148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Scope creep → protect the MVP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Integration conflicts → API contract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Race conditions → DB transactions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False bot positives → labelled tests</a:t>
            </a:r>
            <a:endParaRPr lang="en-US" sz="1500" dirty="0"/>
          </a:p>
        </p:txBody>
      </p:sp>
      <p:sp>
        <p:nvSpPr>
          <p:cNvPr id="21" name="Fallback banner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solidFill>
            <a:srgbClr val="FFF0C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5486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Two-week fallback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· Local MVP, Docker, a repeatable load test and one small AWS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TWO-TEAMMATE WORKFLOW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57784" y="777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Shared rules keep two teammates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breaking each other's work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57784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GitHub Issues and Projects</a:t>
            </a:r>
            <a:endParaRPr lang="en-US" sz="1700" dirty="0"/>
          </a:p>
        </p:txBody>
      </p:sp>
      <p:sp>
        <p:nvSpPr>
          <p:cNvPr id="5" name="Pipeline strip"/>
          <p:cNvSpPr/>
          <p:nvPr/>
        </p:nvSpPr>
        <p:spPr>
          <a:xfrm>
            <a:off x="557784" y="2423160"/>
            <a:ext cx="11073384" cy="14630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6" name="In progress highlight"/>
          <p:cNvSpPr/>
          <p:nvPr/>
        </p:nvSpPr>
        <p:spPr>
          <a:xfrm>
            <a:off x="4992624" y="2423160"/>
            <a:ext cx="2203704" cy="1463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Done highlight"/>
          <p:cNvSpPr/>
          <p:nvPr/>
        </p:nvSpPr>
        <p:spPr>
          <a:xfrm>
            <a:off x="9418320" y="2423160"/>
            <a:ext cx="2212848" cy="1463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Backlog chevron"/>
          <p:cNvSpPr/>
          <p:nvPr/>
        </p:nvSpPr>
        <p:spPr>
          <a:xfrm>
            <a:off x="658368" y="2697480"/>
            <a:ext cx="2002536" cy="868680"/>
          </a:xfrm>
          <a:prstGeom prst="chevron">
            <a:avLst/>
          </a:prstGeom>
          <a:solidFill>
            <a:srgbClr val="E4E8D8"/>
          </a:solidFill>
          <a:ln w="9525">
            <a:solidFill>
              <a:srgbClr val="CFD3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69748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Backlog</a:t>
            </a:r>
            <a:endParaRPr lang="en-US" sz="1800" dirty="0"/>
          </a:p>
        </p:txBody>
      </p:sp>
      <p:sp>
        <p:nvSpPr>
          <p:cNvPr id="10" name="Ready chevron"/>
          <p:cNvSpPr/>
          <p:nvPr/>
        </p:nvSpPr>
        <p:spPr>
          <a:xfrm>
            <a:off x="2880360" y="2697480"/>
            <a:ext cx="2002536" cy="868680"/>
          </a:xfrm>
          <a:prstGeom prst="chevron">
            <a:avLst/>
          </a:prstGeom>
          <a:solidFill>
            <a:srgbClr val="E4E8D8"/>
          </a:solidFill>
          <a:ln w="9525">
            <a:solidFill>
              <a:srgbClr val="CFD3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69748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Ready</a:t>
            </a:r>
            <a:endParaRPr lang="en-US" sz="1800" dirty="0"/>
          </a:p>
        </p:txBody>
      </p:sp>
      <p:sp>
        <p:nvSpPr>
          <p:cNvPr id="12" name="In progress chevron"/>
          <p:cNvSpPr/>
          <p:nvPr/>
        </p:nvSpPr>
        <p:spPr>
          <a:xfrm>
            <a:off x="5093208" y="2697480"/>
            <a:ext cx="2002536" cy="868680"/>
          </a:xfrm>
          <a:prstGeom prst="chevron">
            <a:avLst/>
          </a:prstGeom>
          <a:solidFill>
            <a:srgbClr val="E4E8D8"/>
          </a:solidFill>
          <a:ln w="9525">
            <a:solidFill>
              <a:srgbClr val="CFD3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93208" y="269748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 progress</a:t>
            </a:r>
            <a:endParaRPr lang="en-US" sz="1800" dirty="0"/>
          </a:p>
        </p:txBody>
      </p:sp>
      <p:sp>
        <p:nvSpPr>
          <p:cNvPr id="14" name="Review chevron"/>
          <p:cNvSpPr/>
          <p:nvPr/>
        </p:nvSpPr>
        <p:spPr>
          <a:xfrm>
            <a:off x="7315200" y="2697480"/>
            <a:ext cx="2002536" cy="868680"/>
          </a:xfrm>
          <a:prstGeom prst="chevron">
            <a:avLst/>
          </a:prstGeom>
          <a:solidFill>
            <a:srgbClr val="E4E8D8"/>
          </a:solidFill>
          <a:ln w="9525">
            <a:solidFill>
              <a:srgbClr val="CFD3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269748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Review</a:t>
            </a:r>
            <a:endParaRPr lang="en-US" sz="1800" dirty="0"/>
          </a:p>
        </p:txBody>
      </p:sp>
      <p:sp>
        <p:nvSpPr>
          <p:cNvPr id="16" name="Done chevron"/>
          <p:cNvSpPr/>
          <p:nvPr/>
        </p:nvSpPr>
        <p:spPr>
          <a:xfrm>
            <a:off x="9518904" y="2697480"/>
            <a:ext cx="2002536" cy="868680"/>
          </a:xfrm>
          <a:prstGeom prst="chevron">
            <a:avLst/>
          </a:prstGeom>
          <a:solidFill>
            <a:srgbClr val="E4E8D8"/>
          </a:solidFill>
          <a:ln w="9525">
            <a:solidFill>
              <a:srgbClr val="CFD3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18904" y="269748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Done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Branch naming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" y="4681728"/>
            <a:ext cx="384048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type/issue-number-short-name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Commit style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" y="5687568"/>
            <a:ext cx="201168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summary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 checklist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681728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Tests pass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Teammate review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Docs updated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secrets</a:t>
            </a:r>
            <a:endParaRPr lang="en-US" sz="1700" dirty="0"/>
          </a:p>
        </p:txBody>
      </p:sp>
      <p:sp>
        <p:nvSpPr>
          <p:cNvPr id="24" name="Rules banner"/>
          <p:cNvSpPr/>
          <p:nvPr/>
        </p:nvSpPr>
        <p:spPr>
          <a:xfrm>
            <a:off x="557784" y="6217920"/>
            <a:ext cx="11073384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6217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AGENTS.md protects shared code. COMMITS.md and UPDATES.md log every change. Squash merge only.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CURRENT STATUS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57784" y="777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skeleton is underway;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backend work starts next</a:t>
            </a:r>
            <a:endParaRPr lang="en-US" sz="3400" dirty="0"/>
          </a:p>
        </p:txBody>
      </p:sp>
      <p:sp>
        <p:nvSpPr>
          <p:cNvPr id="4" name="M0 tile"/>
          <p:cNvSpPr/>
          <p:nvPr/>
        </p:nvSpPr>
        <p:spPr>
          <a:xfrm>
            <a:off x="557784" y="1965960"/>
            <a:ext cx="1719072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Skeleton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 progress</a:t>
            </a:r>
            <a:endParaRPr lang="en-US" sz="1200" dirty="0"/>
          </a:p>
        </p:txBody>
      </p:sp>
      <p:sp>
        <p:nvSpPr>
          <p:cNvPr id="8" name="M1 tile"/>
          <p:cNvSpPr/>
          <p:nvPr/>
        </p:nvSpPr>
        <p:spPr>
          <a:xfrm>
            <a:off x="2427732" y="1965960"/>
            <a:ext cx="1719072" cy="1371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8318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58318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8318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 started</a:t>
            </a:r>
            <a:endParaRPr lang="en-US" sz="1200" dirty="0"/>
          </a:p>
        </p:txBody>
      </p:sp>
      <p:sp>
        <p:nvSpPr>
          <p:cNvPr id="12" name="M2 tile"/>
          <p:cNvSpPr/>
          <p:nvPr/>
        </p:nvSpPr>
        <p:spPr>
          <a:xfrm>
            <a:off x="4297680" y="1965960"/>
            <a:ext cx="1719072" cy="1371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53128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453128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53128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 started</a:t>
            </a:r>
            <a:endParaRPr lang="en-US" sz="1200" dirty="0"/>
          </a:p>
        </p:txBody>
      </p:sp>
      <p:sp>
        <p:nvSpPr>
          <p:cNvPr id="16" name="M3 tile"/>
          <p:cNvSpPr/>
          <p:nvPr/>
        </p:nvSpPr>
        <p:spPr>
          <a:xfrm>
            <a:off x="6167628" y="1965960"/>
            <a:ext cx="1719072" cy="1371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23076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23076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Frontend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23076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 started</a:t>
            </a:r>
            <a:endParaRPr lang="en-US" sz="1200" dirty="0"/>
          </a:p>
        </p:txBody>
      </p:sp>
      <p:sp>
        <p:nvSpPr>
          <p:cNvPr id="20" name="M4 tile"/>
          <p:cNvSpPr/>
          <p:nvPr/>
        </p:nvSpPr>
        <p:spPr>
          <a:xfrm>
            <a:off x="8037576" y="1965960"/>
            <a:ext cx="1719072" cy="1371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93024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193024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Tests and CI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193024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 started</a:t>
            </a:r>
            <a:endParaRPr lang="en-US" sz="1200" dirty="0"/>
          </a:p>
        </p:txBody>
      </p:sp>
      <p:sp>
        <p:nvSpPr>
          <p:cNvPr id="24" name="M5 tile"/>
          <p:cNvSpPr/>
          <p:nvPr/>
        </p:nvSpPr>
        <p:spPr>
          <a:xfrm>
            <a:off x="9907524" y="1965960"/>
            <a:ext cx="1719072" cy="1371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62972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0062972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Docker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062972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 started</a:t>
            </a:r>
            <a:endParaRPr lang="en-US" sz="1200" dirty="0"/>
          </a:p>
        </p:txBody>
      </p:sp>
      <p:sp>
        <p:nvSpPr>
          <p:cNvPr id="28" name="M0 card"/>
          <p:cNvSpPr/>
          <p:nvPr/>
        </p:nvSpPr>
        <p:spPr>
          <a:xfrm>
            <a:off x="557784" y="3611880"/>
            <a:ext cx="11073384" cy="1188720"/>
          </a:xfrm>
          <a:prstGeom prst="roundRect">
            <a:avLst>
              <a:gd name="adj" fmla="val 11538"/>
            </a:avLst>
          </a:prstGeom>
          <a:solidFill>
            <a:schemeClr val="bg1"/>
          </a:solidFill>
          <a:ln w="9525">
            <a:solidFill>
              <a:srgbClr val="D3D8C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2960" y="3767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M0 skeleton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Repository structure, README, CONTRIBUTING, issue templates, AGENTS.md, COMMITS.md, UPDATES.md, ADR for MySQL merged via PR #57.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57784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Next slice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557784" y="5413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01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57784" y="5760720"/>
            <a:ext cx="2514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7784" y="5852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Backend /health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3410712" y="5413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02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410712" y="5760720"/>
            <a:ext cx="2514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10712" y="5852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Database models and seed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5413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03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263640" y="5760720"/>
            <a:ext cx="2514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5852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Product API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9116568" y="5413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04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116568" y="5760720"/>
            <a:ext cx="2514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16568" y="5852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Product listing page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612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bg1"/>
                </a:solidFill>
              </a:rPr>
              <a:t>SHOPSCALE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32588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store.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the system.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results.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023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Success is a working e-commerce flow, a controlled experiment, honest measurements and a cloud design both teammates can explain.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All SLA targets are hypotheses until validated.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5349240"/>
            <a:ext cx="107716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pScale">
  <a:themeElements>
    <a:clrScheme name="ShopScale">
      <a:dk1>
        <a:srgbClr val="10231F"/>
      </a:dk1>
      <a:lt1>
        <a:srgbClr val="FFFFFF"/>
      </a:lt1>
      <a:dk2>
        <a:srgbClr val="0A3B37"/>
      </a:dk2>
      <a:lt2>
        <a:srgbClr val="F3F3EE"/>
      </a:lt2>
      <a:accent1>
        <a:srgbClr val="0A7B77"/>
      </a:accent1>
      <a:accent2>
        <a:srgbClr val="245C96"/>
      </a:accent2>
      <a:accent3>
        <a:srgbClr val="B52318"/>
      </a:accent3>
      <a:accent4>
        <a:srgbClr val="E3B85C"/>
      </a:accent4>
      <a:accent5>
        <a:srgbClr val="9A6A00"/>
      </a:accent5>
      <a:accent6>
        <a:srgbClr val="0B1D33"/>
      </a:accent6>
      <a:hlink>
        <a:srgbClr val="0A7B77"/>
      </a:hlink>
      <a:folHlink>
        <a:srgbClr val="245C96"/>
      </a:folHlink>
    </a:clrScheme>
    <a:fontScheme name="ShopScal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ShopScale - E-commerce under real-world cloud workloads</dc:title>
  <dc:subject>PptxGenJS Presentation</dc:subject>
  <dc:creator>PptxGenJS</dc:creator>
  <cp:lastModifiedBy>PptxGenJS</cp:lastModifiedBy>
  <cp:revision>1</cp:revision>
  <dcterms:created xsi:type="dcterms:W3CDTF">2026-10-24T15:24:12Z</dcterms:created>
  <dcterms:modified xsi:type="dcterms:W3CDTF">2026-10-24T15:24:12Z</dcterms:modified>
</cp:coreProperties>
</file>